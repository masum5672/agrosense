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9320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C2416"/>
          </a:solidFill>
          <a:ln/>
        </p:spPr>
      </p:sp>
      <p:sp>
        <p:nvSpPr>
          <p:cNvPr id="3" name="Shape 1"/>
          <p:cNvSpPr/>
          <p:nvPr/>
        </p:nvSpPr>
        <p:spPr>
          <a:xfrm>
            <a:off x="8503920" y="91440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738360" y="91440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0" y="91440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8503920" y="329184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9738360" y="329184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0" y="3291840"/>
            <a:ext cx="914400" cy="914400"/>
          </a:xfrm>
          <a:prstGeom prst="ellipse">
            <a:avLst/>
          </a:prstGeom>
          <a:solidFill>
            <a:srgbClr val="2E7D32">
              <a:alpha val="4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640080" y="315468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IoT-Based Smart Farming and Crop Monitoring System</a:t>
            </a:r>
            <a:endParaRPr lang="en-US" sz="1700" dirty="0">
              <a:solidFill>
                <a:schemeClr val="accent2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40080" y="16916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Final-DEFENSE PRESENTATION  •  B.Sc. ENGINEERING IN CSE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201168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Emam Masum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220201056</a:t>
            </a:r>
            <a:endParaRPr lang="en-US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Zihan Hossain</a:t>
            </a:r>
            <a:endParaRPr lang="en-US" dirty="0"/>
          </a:p>
          <a:p>
            <a:pPr marL="0" indent="0">
              <a:buNone/>
            </a:pPr>
            <a:r>
              <a:rPr lang="en-US" sz="16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220201067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053841" y="4114800"/>
            <a:ext cx="3809999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Taher Muhammad Mahdee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600" dirty="0">
              <a:solidFill>
                <a:srgbClr val="FFFF00"/>
              </a:solidFill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Co-Supervised by: Mahadi Hasan</a:t>
            </a:r>
            <a:endParaRPr lang="en-US" sz="1600" dirty="0"/>
          </a:p>
          <a:p>
            <a:pPr marL="0" indent="0">
              <a:buNone/>
            </a:pPr>
            <a:r>
              <a:rPr lang="en-US" sz="14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</a:t>
            </a:r>
          </a:p>
          <a:p>
            <a:pPr marL="0" indent="0">
              <a:buNone/>
            </a:pPr>
            <a:endParaRPr lang="en-US" sz="1400" dirty="0">
              <a:solidFill>
                <a:srgbClr val="FFFF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600" dirty="0">
              <a:solidFill>
                <a:srgbClr val="FFFF0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53841" y="52806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 (CSE)</a:t>
            </a:r>
            <a:endParaRPr lang="en-US" sz="1200" dirty="0">
              <a:solidFill>
                <a:srgbClr val="00B050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Bangladesh Army University of Science &amp; Technology (BAUST</a:t>
            </a:r>
            <a:r>
              <a:rPr lang="en-US" sz="105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>
              <a:solidFill>
                <a:srgbClr val="00B050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0080" y="5843015"/>
            <a:ext cx="1536192" cy="22860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B050"/>
                </a:solidFill>
              </a:rPr>
              <a:t>August 2026</a:t>
            </a:r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E7805DD9-1BB2-EB0A-4136-BBB075BAEF6B}"/>
              </a:ext>
            </a:extLst>
          </p:cNvPr>
          <p:cNvSpPr/>
          <p:nvPr/>
        </p:nvSpPr>
        <p:spPr>
          <a:xfrm>
            <a:off x="4148328" y="5277612"/>
            <a:ext cx="364236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7282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20370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5112" y="1600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07992" y="17282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07992" y="220370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01584" y="1600200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284464" y="1728216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284464" y="2203704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2935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3538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325112" y="2935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07992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07992" y="3538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101584" y="2935224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84464" y="3063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284464" y="35387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48640" y="42702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" y="43982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31520" y="4873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 Timeline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4325112" y="42702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07992" y="43982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07992" y="4873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101584" y="4270248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284464" y="4398264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284464" y="4873752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6052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31520" y="5733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31520" y="6208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Contributions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4325112" y="56052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507992" y="5733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4507992" y="6208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8101584" y="5605272"/>
            <a:ext cx="36118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76200" dist="25400" dir="5400000" algn="bl" rotWithShape="0">
              <a:srgbClr val="1B2B22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284464" y="5733288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8284464" y="620877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AgroSense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 in regions like Bangladesh still relies on manual, guesswork-driven irrigation. AgroSense brings a low-cost IoT sensor node together with a real-time cloud dashboard to close that gap.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6060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926080"/>
            <a:ext cx="731520" cy="73152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🌾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Relevance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IoT-based smart farming pairs low-cost sensors, cloud databases, and automation to replace manual, guesswork-driven irrigation practices.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260604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37960" y="2926080"/>
            <a:ext cx="731520" cy="73152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2926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🚜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37960" y="37947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537960" y="429768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and mid-scale farms that need remote soil, water, and climate monitoring with pump control accessible from any phone or browser.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Works &amp; Existing Solutions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🏭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Precision-Ag Platforms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systems (e.g. Netafim, CropX) give accurate monitoring but are too costly for small farms.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/ Open-Source IoT Sensors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69480" y="231343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ESP32/Arduino projects read soil data but usually lack a cloud dashboard or automated control.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IoT-Irrigation Studies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450799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research shows soil-moisture-based irrigation, often as lab prototypes without a full web interface.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Farm-Monitoring Apps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69480" y="450799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apps visualize sensor data but rely on manual entry or lack real-time automated pump logic.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 in Modern Agriculture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82880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💧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804672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Waste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86207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irrigation wastes up to 40% more water than needed.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81144" y="182880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11" name="Text 9"/>
          <p:cNvSpPr/>
          <p:nvPr/>
        </p:nvSpPr>
        <p:spPr>
          <a:xfrm>
            <a:off x="4581144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📊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4581144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Data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81144" y="286207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can't see soil, temperature, or crop conditions remotely.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57616" y="182880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16" name="Text 14"/>
          <p:cNvSpPr/>
          <p:nvPr/>
        </p:nvSpPr>
        <p:spPr>
          <a:xfrm>
            <a:off x="8357616" y="18288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🌧️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8357616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Blind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57616" y="286207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and water-level changes go undetected.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9319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416052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21" name="Text 19"/>
          <p:cNvSpPr/>
          <p:nvPr/>
        </p:nvSpPr>
        <p:spPr>
          <a:xfrm>
            <a:off x="804672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💡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04672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Automation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" y="5193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control is entirely manual, no threshold logic.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39319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81144" y="416052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26" name="Text 24"/>
          <p:cNvSpPr/>
          <p:nvPr/>
        </p:nvSpPr>
        <p:spPr>
          <a:xfrm>
            <a:off x="4581144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💸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581144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81144" y="5193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precision-ag platforms are unaffordable.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101584" y="3931920"/>
            <a:ext cx="361188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57616" y="4160520"/>
            <a:ext cx="594360" cy="594360"/>
          </a:xfrm>
          <a:prstGeom prst="ellipse">
            <a:avLst/>
          </a:prstGeom>
          <a:solidFill>
            <a:srgbClr val="FDEEDF"/>
          </a:solidFill>
          <a:ln/>
        </p:spPr>
      </p:sp>
      <p:sp>
        <p:nvSpPr>
          <p:cNvPr id="31" name="Text 29"/>
          <p:cNvSpPr/>
          <p:nvPr/>
        </p:nvSpPr>
        <p:spPr>
          <a:xfrm>
            <a:off x="8357616" y="41605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000000"/>
                </a:solidFill>
              </a:rPr>
              <a:t>🔌</a:t>
            </a:r>
            <a:endParaRPr lang="en-US" sz="2100" dirty="0"/>
          </a:p>
        </p:txBody>
      </p:sp>
      <p:sp>
        <p:nvSpPr>
          <p:cNvPr id="32" name="Text 30"/>
          <p:cNvSpPr/>
          <p:nvPr/>
        </p:nvSpPr>
        <p:spPr>
          <a:xfrm>
            <a:off x="8357616" y="48463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Integration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357616" y="5193792"/>
            <a:ext cx="3108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Sensors, cloud data, and irrigation control are disconnected.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20240" y="2057400"/>
            <a:ext cx="822960" cy="82296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🌱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Multi-Sensor IoT Node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deploy an ESP32-based node with 7 sensors: soil moisture, rain, water level, light, soil &amp; air temperature, and humidity.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25112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6712" y="2057400"/>
            <a:ext cx="822960" cy="82296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12" name="Text 10"/>
          <p:cNvSpPr/>
          <p:nvPr/>
        </p:nvSpPr>
        <p:spPr>
          <a:xfrm>
            <a:off x="5696712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☁️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53712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53712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Cloud Dashboard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53712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9-page, mobile-responsive web dashboard synced with Firebase Realtime Database every 2 seconds.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01584" y="1737360"/>
            <a:ext cx="3611880" cy="411480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73184" y="2057400"/>
            <a:ext cx="822960" cy="82296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18" name="Text 16"/>
          <p:cNvSpPr/>
          <p:nvPr/>
        </p:nvSpPr>
        <p:spPr>
          <a:xfrm>
            <a:off x="9473184" y="20574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30184" y="30632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330184" y="34290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Pump Control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30184" y="4069080"/>
            <a:ext cx="3200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threshold-and-hysteresis auto-irrigation with manual override to cut water waste and manual labor.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 — Sense, Send, Store, Serve, 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1580" y="2267712"/>
            <a:ext cx="640080" cy="64008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6" name="Text 4"/>
          <p:cNvSpPr/>
          <p:nvPr/>
        </p:nvSpPr>
        <p:spPr>
          <a:xfrm>
            <a:off x="1211580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Sensing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3310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reads 7 sensors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2 seconds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21992" y="1938528"/>
            <a:ext cx="384048" cy="384048"/>
          </a:xfrm>
          <a:prstGeom prst="ellipse">
            <a:avLst/>
          </a:prstGeom>
          <a:solidFill>
            <a:srgbClr val="E9A400"/>
          </a:solidFill>
          <a:ln/>
        </p:spPr>
      </p:sp>
      <p:sp>
        <p:nvSpPr>
          <p:cNvPr id="10" name="Text 8"/>
          <p:cNvSpPr/>
          <p:nvPr/>
        </p:nvSpPr>
        <p:spPr>
          <a:xfrm>
            <a:off x="222199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60892" y="2848356"/>
            <a:ext cx="216027" cy="201168"/>
          </a:xfrm>
          <a:prstGeom prst="rightArrow">
            <a:avLst/>
          </a:prstGeom>
          <a:solidFill>
            <a:srgbClr val="52B788"/>
          </a:solidFill>
          <a:ln/>
        </p:spPr>
      </p:sp>
      <p:sp>
        <p:nvSpPr>
          <p:cNvPr id="12" name="Shape 10"/>
          <p:cNvSpPr/>
          <p:nvPr/>
        </p:nvSpPr>
        <p:spPr>
          <a:xfrm>
            <a:off x="2823210" y="210312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86150" y="2267712"/>
            <a:ext cx="640080" cy="64008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14" name="Text 12"/>
          <p:cNvSpPr/>
          <p:nvPr/>
        </p:nvSpPr>
        <p:spPr>
          <a:xfrm>
            <a:off x="3486150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📡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91465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Processing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14650" y="3310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ADC values,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% readings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96562" y="1938528"/>
            <a:ext cx="384048" cy="384048"/>
          </a:xfrm>
          <a:prstGeom prst="ellipse">
            <a:avLst/>
          </a:prstGeom>
          <a:solidFill>
            <a:srgbClr val="E9A400"/>
          </a:solidFill>
          <a:ln/>
        </p:spPr>
      </p:sp>
      <p:sp>
        <p:nvSpPr>
          <p:cNvPr id="18" name="Text 16"/>
          <p:cNvSpPr/>
          <p:nvPr/>
        </p:nvSpPr>
        <p:spPr>
          <a:xfrm>
            <a:off x="449656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35462" y="2848356"/>
            <a:ext cx="216027" cy="201168"/>
          </a:xfrm>
          <a:prstGeom prst="rightArrow">
            <a:avLst/>
          </a:prstGeom>
          <a:solidFill>
            <a:srgbClr val="52B788"/>
          </a:solidFill>
          <a:ln/>
        </p:spPr>
      </p:sp>
      <p:sp>
        <p:nvSpPr>
          <p:cNvPr id="20" name="Shape 18"/>
          <p:cNvSpPr/>
          <p:nvPr/>
        </p:nvSpPr>
        <p:spPr>
          <a:xfrm>
            <a:off x="5097780" y="210312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267712"/>
            <a:ext cx="640080" cy="64008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8922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89220" y="3310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Firebase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/latestReading + /history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71132" y="1938528"/>
            <a:ext cx="384048" cy="384048"/>
          </a:xfrm>
          <a:prstGeom prst="ellipse">
            <a:avLst/>
          </a:prstGeom>
          <a:solidFill>
            <a:srgbClr val="E9A400"/>
          </a:solidFill>
          <a:ln/>
        </p:spPr>
      </p:sp>
      <p:sp>
        <p:nvSpPr>
          <p:cNvPr id="26" name="Text 24"/>
          <p:cNvSpPr/>
          <p:nvPr/>
        </p:nvSpPr>
        <p:spPr>
          <a:xfrm>
            <a:off x="677113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110032" y="2848356"/>
            <a:ext cx="216027" cy="201168"/>
          </a:xfrm>
          <a:prstGeom prst="rightArrow">
            <a:avLst/>
          </a:prstGeom>
          <a:solidFill>
            <a:srgbClr val="52B788"/>
          </a:solidFill>
          <a:ln/>
        </p:spPr>
      </p:sp>
      <p:sp>
        <p:nvSpPr>
          <p:cNvPr id="28" name="Shape 26"/>
          <p:cNvSpPr/>
          <p:nvPr/>
        </p:nvSpPr>
        <p:spPr>
          <a:xfrm>
            <a:off x="7372350" y="210312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5290" y="2267712"/>
            <a:ext cx="640080" cy="64008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30" name="Text 28"/>
          <p:cNvSpPr/>
          <p:nvPr/>
        </p:nvSpPr>
        <p:spPr>
          <a:xfrm>
            <a:off x="8035290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46379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63790" y="3310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9-page PWA renders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 &amp; charts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045702" y="1938528"/>
            <a:ext cx="384048" cy="384048"/>
          </a:xfrm>
          <a:prstGeom prst="ellipse">
            <a:avLst/>
          </a:prstGeom>
          <a:solidFill>
            <a:srgbClr val="E9A400"/>
          </a:solidFill>
          <a:ln/>
        </p:spPr>
      </p:sp>
      <p:sp>
        <p:nvSpPr>
          <p:cNvPr id="34" name="Text 32"/>
          <p:cNvSpPr/>
          <p:nvPr/>
        </p:nvSpPr>
        <p:spPr>
          <a:xfrm>
            <a:off x="904570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384602" y="2848356"/>
            <a:ext cx="216027" cy="201168"/>
          </a:xfrm>
          <a:prstGeom prst="rightArrow">
            <a:avLst/>
          </a:prstGeom>
          <a:solidFill>
            <a:srgbClr val="52B788"/>
          </a:solidFill>
          <a:ln/>
        </p:spPr>
      </p:sp>
      <p:sp>
        <p:nvSpPr>
          <p:cNvPr id="36" name="Shape 34"/>
          <p:cNvSpPr/>
          <p:nvPr/>
        </p:nvSpPr>
        <p:spPr>
          <a:xfrm>
            <a:off x="9646920" y="2103120"/>
            <a:ext cx="19659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5875">
            <a:solidFill>
              <a:srgbClr val="2E7D3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09860" y="2267712"/>
            <a:ext cx="640080" cy="640080"/>
          </a:xfrm>
          <a:prstGeom prst="ellipse">
            <a:avLst/>
          </a:prstGeom>
          <a:solidFill>
            <a:srgbClr val="EAF5EC"/>
          </a:solidFill>
          <a:ln/>
        </p:spPr>
      </p:sp>
      <p:sp>
        <p:nvSpPr>
          <p:cNvPr id="38" name="Text 36"/>
          <p:cNvSpPr/>
          <p:nvPr/>
        </p:nvSpPr>
        <p:spPr>
          <a:xfrm>
            <a:off x="10309860" y="226771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9738360" y="297180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Logic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738360" y="3310128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hysteresis</a:t>
            </a:r>
            <a:endParaRPr lang="en-US" sz="9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9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auto-irrigation check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1320272" y="1938528"/>
            <a:ext cx="384048" cy="384048"/>
          </a:xfrm>
          <a:prstGeom prst="ellipse">
            <a:avLst/>
          </a:prstGeom>
          <a:solidFill>
            <a:srgbClr val="E9A400"/>
          </a:solidFill>
          <a:ln/>
        </p:spPr>
      </p:sp>
      <p:sp>
        <p:nvSpPr>
          <p:cNvPr id="42" name="Text 40"/>
          <p:cNvSpPr/>
          <p:nvPr/>
        </p:nvSpPr>
        <p:spPr>
          <a:xfrm>
            <a:off x="11320272" y="1938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48640" y="434340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F1F6F0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68680" y="4526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Automation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68680" y="48920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soil moisture falls below the threshold − hysteresis band, the ESP32 activates the relay to run the pump; when it rises above threshold + hysteresis, the pump stops. A manual override from the dashboard can take precedence at any stage, and this decision instantly updates the cloud state, which reflects back on the dashboard in real time.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94944" y="1280160"/>
            <a:ext cx="10826496" cy="5038344"/>
          </a:xfrm>
          <a:prstGeom prst="roundRect">
            <a:avLst>
              <a:gd name="adj" fmla="val 173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5" name="Image 0" descr="/home/claude/work/imgs/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82446"/>
            <a:ext cx="10826496" cy="50360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050060"/>
            <a:ext cx="54178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Login Page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Monitoring, Pump Control &amp; Sensors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819656"/>
            <a:ext cx="3645408" cy="209854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5" name="Image 0" descr="/home/claude/work/imgs/live-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3535680" cy="19888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991356"/>
            <a:ext cx="353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Live Monitoring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258056" y="1819656"/>
            <a:ext cx="3645408" cy="209854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8" name="Image 1" descr="/home/claude/work/imgs/pump-contr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2920" y="1874520"/>
            <a:ext cx="3535680" cy="19888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12920" y="3991356"/>
            <a:ext cx="353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Pump Control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8022336" y="1819656"/>
            <a:ext cx="3645408" cy="2098548"/>
          </a:xfrm>
          <a:prstGeom prst="roundRect">
            <a:avLst>
              <a:gd name="adj" fmla="val 26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11" name="Image 2" descr="/home/claude/work/imgs/senso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74520"/>
            <a:ext cx="3535680" cy="19888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77200" y="3991356"/>
            <a:ext cx="3535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Sensors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Charts, Reports, Settings &amp;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93776" y="1819656"/>
            <a:ext cx="2139696" cy="125158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5" name="Image 0" descr="/home/claude/work/imgs/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20"/>
            <a:ext cx="2029968" cy="114185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144393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History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752344" y="1819656"/>
            <a:ext cx="2139696" cy="125158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8" name="Image 1" descr="/home/claude/work/imgs/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7208" y="1874520"/>
            <a:ext cx="2029968" cy="114185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07208" y="3144393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Charts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10912" y="1819656"/>
            <a:ext cx="2139696" cy="125158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11" name="Image 2" descr="/home/claude/work/imgs/repor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5776" y="1874520"/>
            <a:ext cx="2029968" cy="1141857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065776" y="3144393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Reports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269480" y="1819656"/>
            <a:ext cx="2139696" cy="125158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14" name="Image 3" descr="/home/claude/work/imgs/sett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24344" y="1874520"/>
            <a:ext cx="2029968" cy="1141857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324344" y="3144393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Settings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9528048" y="1819656"/>
            <a:ext cx="2139696" cy="1251585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5000"/>
              </a:srgbClr>
            </a:outerShdw>
          </a:effectLst>
        </p:spPr>
      </p:sp>
      <p:pic>
        <p:nvPicPr>
          <p:cNvPr id="17" name="Image 4" descr="/home/claude/work/imgs/accou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912" y="1874520"/>
            <a:ext cx="2029968" cy="1141857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582912" y="3144393"/>
            <a:ext cx="2029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Account Login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System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895856" y="1527048"/>
            <a:ext cx="7912608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architectur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008" y="1600200"/>
            <a:ext cx="7766304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node (ESP32) → Firebase Cloud (RTDB, Auth, Hosting) → Web Dashboard, showing the full data path end to end.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Wiring Diagram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57503" y="1527048"/>
            <a:ext cx="6389314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wirin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655" y="1600200"/>
            <a:ext cx="6243010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DevKit V1 wired to all 7 sensors, the OLED display, and the relay-driven pump circuit.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Realtime Database — Data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80684" y="1527048"/>
            <a:ext cx="6942953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er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836" y="1600200"/>
            <a:ext cx="6796649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view of the RTDB schema: latestReading, history, config, and alerts nodes.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Level-0 Data Flow Diagram (DFD)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97141" y="1527048"/>
            <a:ext cx="6310037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dfd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293" y="1600200"/>
            <a:ext cx="6163733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sensor data moves between the ESP32 node, cloud database, and the farmer/user.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 — Automated Irrigation Cycle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650797" y="1527048"/>
            <a:ext cx="6402725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sequenc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3949" y="1600200"/>
            <a:ext cx="6256421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message flow between sensor, ESP32, Firebase, and dashboard during one irrigation cycle.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DIAGRAMS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612536" y="1527048"/>
            <a:ext cx="8479248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usecas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688" y="1600200"/>
            <a:ext cx="8332944" cy="4160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 (farmer, ESP32 device) and the core use cases the AgroSense platform supports.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D7B07D-296F-994C-4CB6-99ADE35F3412}"/>
              </a:ext>
            </a:extLst>
          </p:cNvPr>
          <p:cNvSpPr txBox="1"/>
          <p:nvPr/>
        </p:nvSpPr>
        <p:spPr>
          <a:xfrm>
            <a:off x="475488" y="639402"/>
            <a:ext cx="833294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Schedule — 8-Week Gantt Chart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013230" y="1527048"/>
            <a:ext cx="5677860" cy="4306824"/>
          </a:xfrm>
          <a:prstGeom prst="roundRect">
            <a:avLst>
              <a:gd name="adj" fmla="val 127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  <a:effectLst>
            <a:outerShdw blurRad="101600" dist="25400" dir="5400000" algn="bl" rotWithShape="0">
              <a:srgbClr val="1B2B22">
                <a:alpha val="12000"/>
              </a:srgbClr>
            </a:outerShdw>
          </a:effectLst>
        </p:spPr>
      </p:sp>
      <p:pic>
        <p:nvPicPr>
          <p:cNvPr id="5" name="Image 0" descr="/home/claude/work/diagrams/gant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3230" y="1527048"/>
            <a:ext cx="5677860" cy="43068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task-level Gantt chart complementing the milestone timeline shown earlier.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D0C1E3-91D6-FF08-A1D3-123705CB4BB4}"/>
              </a:ext>
            </a:extLst>
          </p:cNvPr>
          <p:cNvSpPr txBox="1"/>
          <p:nvPr/>
        </p:nvSpPr>
        <p:spPr>
          <a:xfrm>
            <a:off x="457200" y="646545"/>
            <a:ext cx="609447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Diagram</a:t>
            </a:r>
            <a:endParaRPr lang="en-US" sz="3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Collected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52044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 Pin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 / Output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Moisture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Capacitive (ADC1)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Analog wetness (ADC1)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 Level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Reservoir analog (ADC1)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0–100%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Intensity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LDR (ADC1)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ADC lux value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Temperature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DS18B20 (1-Wire)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GPIO27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 Temp &amp; Humidity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DHT11 (digital)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GPIO4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624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°C / %RH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6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streamed live via ESP32 firmware, pushed to Firebase every 2 seconds, and logged in /history for charting and reports.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THESIS TIMELINE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Development Schedule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3794760"/>
            <a:ext cx="11064240" cy="0"/>
          </a:xfrm>
          <a:prstGeom prst="line">
            <a:avLst/>
          </a:prstGeom>
          <a:noFill/>
          <a:ln w="25400">
            <a:solidFill>
              <a:srgbClr val="E1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66344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3383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-320040" y="1997964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164592" y="2075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Literature Review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31089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6950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09206" y="3995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352006" y="4297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6014" y="4361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Procurement &amp; Circuit Design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129246" y="37947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27555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9811" y="3383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32611" y="2011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6619" y="2075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Development (Sensors + Wi-Fi)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09851" y="31089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08161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70417" y="3995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13217" y="4297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7225" y="4361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Schema &amp; Cloud Integration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290457" y="37947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88767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1023" y="3383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3823" y="2011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7831" y="2075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— Core Pages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871063" y="31089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69373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31629" y="3995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674429" y="4297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38437" y="4361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Pump Control &amp; Automation Logic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51669" y="37947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949978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12234" y="338328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55034" y="2011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19042" y="2075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(17 Test Cases) &amp; Debugging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10032274" y="31089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530584" y="3712464"/>
            <a:ext cx="164592" cy="164592"/>
          </a:xfrm>
          <a:prstGeom prst="ellipse">
            <a:avLst/>
          </a:prstGeom>
          <a:solidFill>
            <a:srgbClr val="2E7D32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292840" y="3995928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0835640" y="4297680"/>
            <a:ext cx="1554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899648" y="4361688"/>
            <a:ext cx="1426464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9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&amp; Pre-Defense Prep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1612880" y="3794760"/>
            <a:ext cx="0" cy="566928"/>
          </a:xfrm>
          <a:prstGeom prst="line">
            <a:avLst/>
          </a:prstGeom>
          <a:noFill/>
          <a:ln w="12700">
            <a:solidFill>
              <a:srgbClr val="E1E6D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PRELIMINARY RESULTS / PROGRESS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Stand Today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3351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8580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integrated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392424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3351F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2s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52044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update rate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3351F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5508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pages built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052560" y="164592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13351F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83080"/>
            <a:ext cx="2651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17/17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189720" y="24688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passed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456432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42900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 complete: reads all 7 sensors, drives OLED display, uploads to Firebase every 2 seconds.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114800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87368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functional across Login, Live Monitoring, Pump Control, Charts, History, and Reports pages.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73168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745736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+ hysteresis (±5%) auto-irrigation logic validated with manual override support.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431536"/>
            <a:ext cx="201168" cy="201168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404104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Field-style testing completed: all 17 test cases passed, covering sensors, automation, Wi-Fi recovery, and auth.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AgroSense Will Deliver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💧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60020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Water Waste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1600200" y="231343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Threshold-based auto-irrigation cuts unnecessary watering compared to manual routines.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60020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92240" y="1828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📲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269480" y="18288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Visibility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269480" y="231343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monitor soil, water, and climate conditions live from any phone or browser.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⚙️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002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Automation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600200" y="450799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Hysteresis logic and manual override prevent pump stress and give the farmer final control.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794760"/>
            <a:ext cx="5440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💰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26948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Precision Agriculture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7269480" y="4507992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low-cost ESP32 + Firebase stack brings capabilities of costly commercial platforms within reach.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CONTRIBUTIONS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Roles &amp; Contributions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057400"/>
            <a:ext cx="731520" cy="731520"/>
          </a:xfrm>
          <a:prstGeom prst="ellipse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6" name="Text 4"/>
          <p:cNvSpPr/>
          <p:nvPr/>
        </p:nvSpPr>
        <p:spPr>
          <a:xfrm>
            <a:off x="150876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4840" y="2935224"/>
            <a:ext cx="2575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Taher Muhammad Mahdee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2194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Professor, Dept. of CSE (BAUST)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338328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43400" y="2057400"/>
            <a:ext cx="731520" cy="731520"/>
          </a:xfrm>
          <a:prstGeom prst="ellipse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3" name="Text 11"/>
          <p:cNvSpPr/>
          <p:nvPr/>
        </p:nvSpPr>
        <p:spPr>
          <a:xfrm>
            <a:off x="352044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Mahadi Hasan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2044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Co-Supervisor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3337560" y="3840480"/>
            <a:ext cx="2651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Dept. of CSE (BAUST)</a:t>
            </a:r>
            <a:endParaRPr lang="en-US" sz="1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1792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78040" y="2057400"/>
            <a:ext cx="731520" cy="731520"/>
          </a:xfrm>
          <a:prstGeom prst="ellipse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18" name="Text 16"/>
          <p:cNvSpPr/>
          <p:nvPr/>
        </p:nvSpPr>
        <p:spPr>
          <a:xfrm>
            <a:off x="7178040" y="20574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Emam Masum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220201056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00800" y="3822192"/>
            <a:ext cx="2286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Back-end, Database &amp; Deployment, Hardware Integration, Firmware &amp; Hardware Testing.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052560" y="1737360"/>
            <a:ext cx="2651760" cy="393192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012680" y="2057400"/>
            <a:ext cx="731520" cy="731520"/>
          </a:xfrm>
          <a:prstGeom prst="ellipse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/>
        </p:spPr>
      </p:sp>
      <p:sp>
        <p:nvSpPr>
          <p:cNvPr id="25" name="Text 23"/>
          <p:cNvSpPr/>
          <p:nvPr/>
        </p:nvSpPr>
        <p:spPr>
          <a:xfrm>
            <a:off x="9189720" y="29260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Zihan Hossain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89720" y="3429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220201067</a:t>
            </a:r>
            <a:endParaRPr lang="en-US" sz="2000" dirty="0">
              <a:solidFill>
                <a:srgbClr val="00B050"/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9189720" y="3840480"/>
            <a:ext cx="222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 Front-end, Hardware Collection, 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&amp; Documentations, overall UI design, Software Testing.</a:t>
            </a:r>
            <a:endParaRPr lang="en-US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000" y="1691640"/>
            <a:ext cx="104698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691640"/>
            <a:ext cx="9966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addresses four core problems in manual irrigation — water waste, blind monitoring, weather risk, and high commercial cost — with one integrated IoT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862072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62072"/>
            <a:ext cx="457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43000" y="2862072"/>
            <a:ext cx="104698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2862072"/>
            <a:ext cx="9966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objectives were met: a 7-sensor ESP32 node, a real-time Firebase-synced dashboard, and automated threshold-hysteresis pump control.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32504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32504"/>
            <a:ext cx="457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" y="4032504"/>
            <a:ext cx="104698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4032504"/>
            <a:ext cx="9966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 validated with 17/17 test cases passed during field-style testing, confirming its accuracy and reliability.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202936"/>
            <a:ext cx="457200" cy="987552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202936"/>
            <a:ext cx="4572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" y="5202936"/>
            <a:ext cx="1046988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5202936"/>
            <a:ext cx="99669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proves that affordable, integrated IoT can bring precision agriculture within reach of small-scale farmers.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format — literature-review and technical reference list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57400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S. Rahman and T. Islam, “IoT-Based Smart Irrigation Systems: A Review of Architectures and Applications,” Int. J. Computer Applications, vol. 186, no. 4, pp. 12–19, 2024.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715768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M. Chowdhury and N. Akter, “Design of a Low-Cost Sensor Network for Precision Agriculture in Developing Regions,” Proc. Int. Conf. on Innovation in Engineering and Technology, pp. 1–6, 2023.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374136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74136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R. Karim, “Cloud-Based Real-Time Data Logging for Embedded IoT Applications,” J. Emerging Technologies in Computing, vol. 9, no. 2, pp. 45–53, 2022.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032504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32504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Espressif Systems, ESP32 Technical Reference Manual, Version 5.1, Shanghai: Espressif Systems, 2023.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690872"/>
            <a:ext cx="11064240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1E6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690872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Google LLC, Firebase Realtime Database Documentation, 2024. [Online]. Available: firebase.google.com/docs/database.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1967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 Smart Farming &amp; Crop Monitoring System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1967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335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640080"/>
            <a:ext cx="1371600" cy="1371600"/>
          </a:xfrm>
          <a:prstGeom prst="ellipse">
            <a:avLst/>
          </a:prstGeom>
          <a:solidFill>
            <a:srgbClr val="2E7D32">
              <a:alpha val="7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394960" y="64008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🌱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32004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AgroSense — IoT-Based Smart Farming &amp; Crop Monitoring System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0" y="3977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Emam Masum (220201056)   •   Zihan Hossain (220201067)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3891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by: Taher Muhammad Mahdee (Associate Professor)   •   Co-Supervised by: Mahadi Hasan (Assistant Professor)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0" y="47548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  •  Bangladesh Army University of Science &amp; Technology (BAUST)  •  August 2026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0" y="548640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smart-farming-3d1f2.web.app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1854</Words>
  <Application>Microsoft Office PowerPoint</Application>
  <PresentationFormat>Widescreen</PresentationFormat>
  <Paragraphs>350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MD EMAM MASUM</cp:lastModifiedBy>
  <cp:revision>4</cp:revision>
  <dcterms:created xsi:type="dcterms:W3CDTF">2026-08-01T17:28:54Z</dcterms:created>
  <dcterms:modified xsi:type="dcterms:W3CDTF">2026-08-02T04:23:42Z</dcterms:modified>
</cp:coreProperties>
</file>